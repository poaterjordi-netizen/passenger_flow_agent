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0"/>
    <ns0:plotArea>
      <ns0:barChart>
        <ns0:barDir val="col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通过数量</ns0:v>
                </ns0:pt>
              </ns0:strCache>
            </ns0:strRef>
          </ns0:tx>
          <ns0:spPr>
            <ns1:solidFill>
              <ns1:srgbClr val="00A6C8"/>
            </ns1:solidFill>
          </ns0:spPr>
          <ns0:cat>
            <ns0:strRef>
              <ns0:f>Sheet1!$A$2:$A$4</ns0:f>
              <ns0:strCache>
                <ns0:ptCount val="3"/>
                <ns0:pt idx="0">
                  <ns0:v>Python 测试</ns0:v>
                </ns0:pt>
                <ns0:pt idx="1">
                  <ns0:v>Gold Cases</ns0:v>
                </ns0:pt>
                <ns0:pt idx="2">
                  <ns0:v>Web E2E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103</ns0:v>
                </ns0:pt>
                <ns0:pt idx="1">
                  <ns0:v>100</ns0:v>
                </ns0:pt>
                <ns0:pt idx="2">
                  <ns0:v>11</ns0:v>
                </ns0:pt>
              </ns0:numCache>
            </ns0:numRef>
          </ns0:val>
        </ns0:ser>
        <ns0:axId val="79456311"/>
        <ns0:axId val="33489207"/>
      </ns0:barChart>
      <ns0:catAx>
        <ns0:axId val="79456311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Microsoft YaHei"/>
              </ns1:defRPr>
            </ns1:pPr>
          </ns1:p>
        </ns0:txPr>
        <ns0:crossAx val="33489207"/>
        <ns0:crosses val="autoZero"/>
        <ns0:auto val="1"/>
        <ns0:lblAlgn val="ctr"/>
        <ns0:lblOffset val="100"/>
        <ns0:noMultiLvlLbl val="0"/>
      </ns0:catAx>
      <ns0:valAx>
        <ns0:axId val="33489207"/>
        <ns0:scaling>
          <ns0:max val="110.0"/>
          <ns0:min val="0.0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800">
                <ns1:latin typeface="Microsoft YaHei"/>
              </ns1:defRPr>
            </ns1:pPr>
          </ns1:p>
        </ns0:txPr>
        <ns0:crossAx val="79456311"/>
        <ns0:crosses val="autoZero"/>
      </ns0:valAx>
    </ns0:plotArea>
    <ns0:legend>
      <ns0:legendPos val="b"/>
      <ns0:overlay val="0"/>
    </ns0:legend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Title Slid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>
          <ns1:xfrm>
            <ns1:off x="685800" y="2130425"/>
            <ns1:ext cx="7772400" cy="1470025"/>
          </ns1:xfrm>
        </ns0:spPr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>
          <ns1:xfrm>
            <ns1:off x="1371600" y="3886200"/>
            <ns1:ext cx="6400800" cy="1752600"/>
          </ns1:xfrm>
        </ns0:spPr>
        <ns0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r>
              <ns1:rPr lang="en-US" smtClean="0"/>
              <ns1:t>Click to edit Master subtitle style</ns1:t>
            </ns1:r>
            <ns1:endParaRPr lang="en-US"/>
          </ns1:p>
        </ns0:txBody>
      </ns0:sp>
    </ns0:spTree>
    <ns0:extLst>
      <ns0:ext uri="{BB962C8B-B14F-4D97-AF65-F5344CB8AC3E}">
        <ns2:creationId val="3168075583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Title and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Section Header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Two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Comparis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535113"/>
            <ns1:ext cx="4040188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4645025" y="1535113"/>
            <ns1:ext cx="4041775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/>
          </ns0:nvPr>
        </ns0:nvSpPr>
        <ns0:spPr>
          <ns1:xfrm>
            <ns1:off x="4645025" y="2174875"/>
            <ns1:ext cx="4041775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Title Onl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</ns0:spTree>
    <ns0:extLst>
      <ns0:ext uri="{BB962C8B-B14F-4D97-AF65-F5344CB8AC3E}">
        <ns2:creationId val="727027711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212999818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Content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273050"/>
            <ns1:ext cx="3008313" cy="1162050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3575050" y="273050"/>
            <ns1:ext cx="5111750" cy="5853113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435100"/>
            <ns1:ext cx="3008313" cy="4691063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</ns0:spTree>
    <ns0:extLst>
      <ns0:ext uri="{BB962C8B-B14F-4D97-AF65-F5344CB8AC3E}">
        <ns2:creationId val="1840726560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792288" y="4800600"/>
            <ns1:ext cx="5486400" cy="566738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Picture Placeholder 2"/>
          <ns0:cNvSpPr>
            <ns1:spLocks noGrp="1"/>
          </ns0:cNvSpPr>
          <ns0:nvPr>
            <ns0:ph type="pic" idx="1"/>
          </ns0:nvPr>
        </ns0:nvSpPr>
        <ns0:spPr>
          <ns1:xfrm>
            <ns1:off x="1792288" y="612775"/>
            <ns1:ext cx="5486400" cy="4114800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1792288" y="5367338"/>
            <ns1:ext cx="54864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</ns0:spTree>
    <ns0:extLst>
      <ns0:ext uri="{BB962C8B-B14F-4D97-AF65-F5344CB8AC3E}">
        <ns2:creationId val="3889236939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Title and Vertical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2910927964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Vertical Title and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Vertical Title 1"/>
          <ns0:cNvSpPr>
            <ns1:spLocks noGrp="1"/>
          </ns0:cNvSpPr>
          <ns0:nvPr>
            <ns0:ph type="title" orient="vert"/>
          </ns0:nvPr>
        </ns0:nvSpPr>
        <ns0:spPr>
          <ns1:xfrm>
            <ns1:off x="6629400" y="274638"/>
            <ns1:ext cx="2057400" cy="5851525"/>
          </ns1:xfrm>
        </ns0:spPr>
        <ns0:txBody>
          <ns1:bodyPr vert="eaVert"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>
          <ns1:xfrm>
            <ns1:off x="457200" y="274638"/>
            <ns1:ext cx="6019800" cy="5851525"/>
          </ns1:xfrm>
        </ns0:spPr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3612223792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 algn="ctr" defTabSz="4572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342900" indent="-342900" algn="l" defTabSz="457200" rtl="0" eaLnBrk="1" latinLnBrk="0" hangingPunct="1">
        <ns1:spcBef>
          <ns1:spcPct val="20000"/>
        </ns1:spcBef>
        <ns1:buFont typeface="Arial"/>
        <ns1:buChar char="•"/>
        <ns1:defRPr sz="32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742950" indent="-285750" algn="l" defTabSz="457200" rtl="0" eaLnBrk="1" latinLnBrk="0" hangingPunct="1">
        <ns1:spcBef>
          <ns1:spcPct val="20000"/>
        </ns1:spcBef>
        <ns1:buFont typeface="Arial"/>
        <ns1:buChar char="–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457200" rtl="0" eaLnBrk="1" latinLnBrk="0" hangingPunct="1">
        <ns1:spcBef>
          <ns1:spcPct val="20000"/>
        </ns1:spcBef>
        <ns1:buFont typeface="Arial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457200" rtl="0" eaLnBrk="1" latinLnBrk="0" hangingPunct="1">
        <ns1:spcBef>
          <ns1:spcPct val="20000"/>
        </ns1:spcBef>
        <ns1:buFont typeface="Arial"/>
        <ns1:buChar char="–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457200" rtl="0" eaLnBrk="1" latinLnBrk="0" hangingPunct="1">
        <ns1:spcBef>
          <ns1:spcPct val="20000"/>
        </ns1:spcBef>
        <ns1:buFont typeface="Arial"/>
        <ns1:buChar char="»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marL="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8354A"/>
          </a:solidFill>
          <a:ln>
            <a:solidFill>
              <a:srgbClr val="18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92608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受治理的
地铁客流智能体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16352"/>
            <a:ext cx="283464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0">
                <a:solidFill>
                  <a:srgbClr val="CDEBF2"/>
                </a:solidFill>
                <a:latin typeface="Microsoft YaHei"/>
              </a:rPr>
              <a:t>让大模型负责听懂和说明
让确定性系统负责查询和计算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239512"/>
            <a:ext cx="1828800" cy="347472"/>
          </a:xfrm>
          <a:prstGeom prst="roundRect">
            <a:avLst>
              <a:gd name="adj" fmla="val 8000"/>
            </a:avLst>
          </a:prstGeom>
          <a:solidFill>
            <a:srgbClr val="087EA4"/>
          </a:solidFill>
          <a:ln w="1270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239512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老板 / 甲方沟通版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77900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BFD5DE"/>
                </a:solidFill>
                <a:latin typeface="Microsoft YaHei"/>
              </a:rPr>
              <a:t>2026-07-21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86868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00A6C8"/>
                </a:solidFill>
                <a:latin typeface="Microsoft YaHei"/>
              </a:rPr>
              <a:t>一句话价值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34440"/>
            <a:ext cx="667512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8354A"/>
                </a:solidFill>
                <a:latin typeface="Microsoft YaHei"/>
              </a:rPr>
              <a:t>自然语言入口 + 可信计算内核 + 全链路证据</a:t>
            </a:r>
          </a:p>
        </p:txBody>
      </p:sp>
      <p:sp>
        <p:nvSpPr>
          <p:cNvPr id="10" name="Oval 9"/>
          <p:cNvSpPr/>
          <p:nvPr/>
        </p:nvSpPr>
        <p:spPr>
          <a:xfrm>
            <a:off x="4617720" y="2743200"/>
            <a:ext cx="658368" cy="658368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3520440"/>
            <a:ext cx="117043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业务问题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12664" y="3072384"/>
            <a:ext cx="548640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71031" y="2743200"/>
            <a:ext cx="658368" cy="658368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2743200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9" y="3520440"/>
            <a:ext cx="117043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结构化意图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65975" y="3072384"/>
            <a:ext cx="548641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24344" y="2743200"/>
            <a:ext cx="658368" cy="658368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2743200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520440"/>
            <a:ext cx="117043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受控工具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19288" y="3072384"/>
            <a:ext cx="548640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77655" y="2743200"/>
            <a:ext cx="658368" cy="658368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7655" y="2743200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520440"/>
            <a:ext cx="117043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证据包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599" y="3072384"/>
            <a:ext cx="548640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030967" y="2743200"/>
            <a:ext cx="658368" cy="658368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7" y="2743200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3520440"/>
            <a:ext cx="117043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结果核验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4572000"/>
            <a:ext cx="6601968" cy="841248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709160"/>
            <a:ext cx="608076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087EA4"/>
                </a:solidFill>
                <a:latin typeface="Microsoft YaHei"/>
              </a:rPr>
              <a:t>模型不能自由查库、编造数字或自动处置；生产动作保留人工责任门。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01｜业务问题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传统“模型直连数据”路线，风险集中在事实与责任失控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389120"/>
          </a:xfrm>
          <a:prstGeom prst="rect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81912"/>
            <a:ext cx="286207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业务需要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2862072" cy="3611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自然语言提问
跨指标组合分析
快速解释与图表
活动与异常辅助研判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4290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73152" cy="4389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581912"/>
            <a:ext cx="304495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直接接大模型的风险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029968"/>
            <a:ext cx="3044952" cy="3611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自由 SQL 或高成本查询
指标口径混淆
越权字段访问
相关被误写成因果
数字无法追溯
运营建议责任不清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17320"/>
            <a:ext cx="3703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417320"/>
            <a:ext cx="73152" cy="4389120"/>
          </a:xfrm>
          <a:prstGeom prst="rect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581912"/>
            <a:ext cx="3319272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项目的回答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029968"/>
            <a:ext cx="3319272" cy="3611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模型只生成结构化候选
工具白名单负责执行
结果统一封装证据
Verifier 做执行前/回答后硬门
通知与处置由人确认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971032"/>
            <a:ext cx="5440680" cy="347472"/>
          </a:xfrm>
          <a:prstGeom prst="roundRect">
            <a:avLst>
              <a:gd name="adj" fmla="val 8000"/>
            </a:avLst>
          </a:prstGeom>
          <a:solidFill>
            <a:srgbClr val="18354A"/>
          </a:solidFill>
          <a:ln w="12700">
            <a:solidFill>
              <a:srgbClr val="18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971032"/>
            <a:ext cx="54406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目标不是“更自由的 Agent”，而是“更可信的业务协作系统”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02｜解决方案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系统把语言、计算、证据与责任拆成可治理的分工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468880" cy="384048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737360"/>
            <a:ext cx="438912" cy="438912"/>
          </a:xfrm>
          <a:prstGeom prst="ellipse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66420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1">
                <a:solidFill>
                  <a:srgbClr val="18354A"/>
                </a:solidFill>
                <a:latin typeface="Microsoft YaHei"/>
              </a:rP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087EA4"/>
                </a:solidFill>
                <a:latin typeface="Microsoft YaHei"/>
              </a:rPr>
              <a:t>问与看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880360"/>
            <a:ext cx="1828800" cy="0"/>
          </a:xfrm>
          <a:prstGeom prst="line">
            <a:avLst/>
          </a:prstGeom>
          <a:ln w="127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154680"/>
            <a:ext cx="1920240" cy="14813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业务问题
回答 / 图表
证据 / 轨迹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81528" y="3456432"/>
            <a:ext cx="256032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47288" y="1508760"/>
            <a:ext cx="2468880" cy="384048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48456" y="1737360"/>
            <a:ext cx="438912" cy="438912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73736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166420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1">
                <a:solidFill>
                  <a:srgbClr val="18354A"/>
                </a:solidFill>
                <a:latin typeface="Microsoft YaHei"/>
              </a:rPr>
              <a:t>状态机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359152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00A6C8"/>
                </a:solidFill>
                <a:latin typeface="Microsoft YaHei"/>
              </a:rPr>
              <a:t>组织执行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2880360"/>
            <a:ext cx="1828800" cy="0"/>
          </a:xfrm>
          <a:prstGeom prst="line">
            <a:avLst/>
          </a:prstGeom>
          <a:ln w="127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21608" y="3154680"/>
            <a:ext cx="1920240" cy="14813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上下文
意图 / 计划
失败与回放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4456" y="3456432"/>
            <a:ext cx="256032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0216" y="1508760"/>
            <a:ext cx="2468880" cy="384048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01384" y="1737360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173736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166420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1">
                <a:solidFill>
                  <a:srgbClr val="18354A"/>
                </a:solidFill>
                <a:latin typeface="Microsoft YaHei"/>
              </a:rPr>
              <a:t>工具内核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359152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Microsoft YaHei"/>
              </a:rPr>
              <a:t>真正计算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20256" y="2880360"/>
            <a:ext cx="1828800" cy="0"/>
          </a:xfrm>
          <a:prstGeom prst="line">
            <a:avLst/>
          </a:prstGeom>
          <a:ln w="127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4536" y="3154680"/>
            <a:ext cx="1920240" cy="14813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QueryIR
统计 / 预测
GIS / 报告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87384" y="3456432"/>
            <a:ext cx="256032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53144" y="1508760"/>
            <a:ext cx="2468880" cy="384048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54312" y="1737360"/>
            <a:ext cx="438912" cy="438912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2" y="173736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166420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1">
                <a:solidFill>
                  <a:srgbClr val="18354A"/>
                </a:solidFill>
                <a:latin typeface="Microsoft YaHei"/>
              </a:rPr>
              <a:t>质量门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2359152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1E8E69"/>
                </a:solidFill>
                <a:latin typeface="Microsoft YaHei"/>
              </a:rPr>
              <a:t>防止胡说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73184" y="2880360"/>
            <a:ext cx="1828800" cy="0"/>
          </a:xfrm>
          <a:prstGeom prst="line">
            <a:avLst/>
          </a:prstGeom>
          <a:ln w="127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27464" y="3154680"/>
            <a:ext cx="1920240" cy="14813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EvidencePacket
Verifier
人工确认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4440" y="5650992"/>
            <a:ext cx="9692640" cy="585216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742432"/>
            <a:ext cx="93268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087EA4"/>
                </a:solidFill>
                <a:latin typeface="Microsoft YaHei"/>
              </a:rPr>
              <a:t>稳定契约：IntentEnvelope → TaskPlan → ToolResult → EvidencePacket / VerificationReport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03｜运行闭环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一次回答经过 10 个可观察节点，失败可定位到具体步骤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700784"/>
            <a:ext cx="365760" cy="365760"/>
          </a:xfrm>
          <a:prstGeom prst="ellipse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0078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682495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接收问题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7" y="2112264"/>
            <a:ext cx="292609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157276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5808" y="1700784"/>
            <a:ext cx="365760" cy="365760"/>
          </a:xfrm>
          <a:prstGeom prst="ellipse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70078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682495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构造上下文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21284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11226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93792" y="157276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0" y="1700784"/>
            <a:ext cx="365760" cy="365760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70078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682495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意图候选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21284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LLM 候选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211226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61504" y="157276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71231" y="1700784"/>
            <a:ext cx="365760" cy="365760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170078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1682495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基线核验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221284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211226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29216" y="157276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38944" y="1700784"/>
            <a:ext cx="365760" cy="365760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8944" y="170078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0424" y="1682495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任务计划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221284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LLM 候选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72160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" y="3849624"/>
            <a:ext cx="365760" cy="36576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84962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9576" y="3831336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工具执行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436168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32887" y="4261104"/>
            <a:ext cx="292609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926080" y="372160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35808" y="3849624"/>
            <a:ext cx="365760" cy="36576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35808" y="384962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7288" y="3831336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证据封装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436168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00600" y="426110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193792" y="372160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03520" y="3849624"/>
            <a:ext cx="365760" cy="365760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384962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3831336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证据化回答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36168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LLM 候选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68312" y="426110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461504" y="372160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71231" y="3849624"/>
            <a:ext cx="365760" cy="365760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71231" y="384962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2712" y="3831336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结果核验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0104" y="436168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确定性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36024" y="4261104"/>
            <a:ext cx="292608" cy="0"/>
          </a:xfrm>
          <a:prstGeom prst="line">
            <a:avLst/>
          </a:prstGeom>
          <a:ln w="25400">
            <a:solidFill>
              <a:srgbClr val="C9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729216" y="3721608"/>
            <a:ext cx="1874519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38944" y="3849624"/>
            <a:ext cx="365760" cy="365760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38944" y="3849624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50424" y="3831336"/>
            <a:ext cx="1216152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50" b="1">
                <a:solidFill>
                  <a:srgbClr val="18354A"/>
                </a:solidFill>
                <a:latin typeface="Microsoft YaHei"/>
              </a:rPr>
              <a:t>轨迹返回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57816" y="4361688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前端 / 审计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37360" y="5788152"/>
            <a:ext cx="8732520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C2413A"/>
                </a:solidFill>
                <a:latin typeface="Microsoft YaHei"/>
              </a:rPr>
              <a:t>工具失败时：只允许一次受限重规划；不重复成功步骤，不增加未知工具。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04｜能力覆盖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统一工具注册表，把查询、分析、预测和报告像积木一样组合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73152" cy="1755648"/>
          </a:xfrm>
          <a:prstGeom prst="rect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09344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查询与比较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指标目录｜QueryIR｜时段比较
站点排序｜线路并行比较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44752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44752"/>
            <a:ext cx="73152" cy="1755648"/>
          </a:xfrm>
          <a:prstGeom prst="rect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09344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统计与诊断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057400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增长｜Pearson / 滞后相关
异常｜趋势｜候选原因树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44752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44752"/>
            <a:ext cx="73152" cy="17556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609344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预测与活动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057400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参考日基线｜活动规则
时间序列｜回测样例｜SOP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21024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21024"/>
            <a:ext cx="73152" cy="1755648"/>
          </a:xfrm>
          <a:prstGeom prst="rect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785615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跨网与空间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33672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轨道 / 公交换乘｜窗口匹配
地理编码｜OD 热力｜通勤画像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21024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21024"/>
            <a:ext cx="73152" cy="1755648"/>
          </a:xfrm>
          <a:prstGeom prst="rect">
            <a:avLst/>
          </a:prstGeom>
          <a:solidFill>
            <a:srgbClr val="18354A"/>
          </a:solidFill>
          <a:ln>
            <a:solidFill>
              <a:srgbClr val="18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785615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审计与报告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233672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EvidencePacket｜运行轨迹
本地报告｜反馈与数据集门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621024"/>
            <a:ext cx="3456432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21024"/>
            <a:ext cx="73152" cy="1755648"/>
          </a:xfrm>
          <a:prstGeom prst="rect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3785615"/>
            <a:ext cx="307238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多端交付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233672"/>
            <a:ext cx="3072384" cy="9784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React Web｜FastAPI｜CLI
微信小程序｜多端应用工程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D97706"/>
                </a:solidFill>
                <a:latin typeface="Microsoft YaHei"/>
              </a:rPr>
              <a:t>注意：跨网、GIS、活动、实时和 SOP 路径目前使用合成夹具。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05｜用户体验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业务人员看到的不只是答案，还能看到答案如何产生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6</a:t>
            </a:r>
          </a:p>
        </p:txBody>
      </p:sp>
      <p:pic>
        <p:nvPicPr>
          <p:cNvPr id="6" name="Picture 5" descr="assistant-web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5623560" cy="4736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89888"/>
            <a:ext cx="49560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389888"/>
            <a:ext cx="73152" cy="1207008"/>
          </a:xfrm>
          <a:prstGeom prst="rect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554480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对老板 / 甲方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002536"/>
            <a:ext cx="457200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看清系统当前能力、数据范围、模型是否真实调用、哪些仍待生产准入。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743200"/>
            <a:ext cx="73152" cy="1325880"/>
          </a:xfrm>
          <a:prstGeom prst="rect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2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对运营人员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3355848"/>
            <a:ext cx="45720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自然语言提问；核验通过才展示为可采纳结果；高风险建议明确要求人工确认。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24528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4224528"/>
            <a:ext cx="73152" cy="1325880"/>
          </a:xfrm>
          <a:prstGeom prst="rect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4389120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8354A"/>
                </a:solidFill>
                <a:latin typeface="Microsoft YaHei"/>
              </a:rPr>
              <a:t>对开发人员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4837176"/>
            <a:ext cx="45720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173042"/>
                </a:solidFill>
                <a:latin typeface="Microsoft YaHei"/>
              </a:rPr>
              <a:t>一次 RunRecord 同时提供意图、计划、工具、证据、核验、模型 usage 与事件轨迹。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44768"/>
            <a:ext cx="52578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50" b="0">
                <a:solidFill>
                  <a:srgbClr val="607785"/>
                </a:solidFill>
                <a:latin typeface="Microsoft YaHei"/>
              </a:rPr>
              <a:t>Web 智能分析页面（本地真实运行截图）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06｜安全与治理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四道硬门把模型能力限制在可验证、可审计范围内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2487168" cy="3273552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2159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192" y="1856231"/>
            <a:ext cx="731520" cy="731520"/>
          </a:xfrm>
          <a:prstGeom prst="ellipse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856231"/>
            <a:ext cx="73152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70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意图门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1938528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50" b="0">
                <a:solidFill>
                  <a:srgbClr val="173042"/>
                </a:solidFill>
                <a:latin typeface="Microsoft YaHei"/>
              </a:rPr>
              <a:t>实体、指标、时间与任务类型
必须匹配 protected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572768"/>
            <a:ext cx="2487168" cy="3273552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2159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1856231"/>
            <a:ext cx="731520" cy="731520"/>
          </a:xfrm>
          <a:prstGeom prst="ellipse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56231"/>
            <a:ext cx="73152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70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计划门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401568"/>
            <a:ext cx="1938528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50" b="0">
                <a:solidFill>
                  <a:srgbClr val="173042"/>
                </a:solidFill>
                <a:latin typeface="Microsoft YaHei"/>
              </a:rPr>
              <a:t>工具、参数、顺序与依赖
必须匹配 protected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572768"/>
            <a:ext cx="2487168" cy="3273552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2159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42048" y="1856231"/>
            <a:ext cx="731520" cy="73152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1856231"/>
            <a:ext cx="73152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770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证据门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401568"/>
            <a:ext cx="1938528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50" b="0">
                <a:solidFill>
                  <a:srgbClr val="173042"/>
                </a:solidFill>
                <a:latin typeface="Microsoft YaHei"/>
              </a:rPr>
              <a:t>每个数字回到 ToolResult
并获得 evidence_id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572768"/>
            <a:ext cx="2487168" cy="3273552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2159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4976" y="1856231"/>
            <a:ext cx="731520" cy="731520"/>
          </a:xfrm>
          <a:prstGeom prst="ellipse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4976" y="1856231"/>
            <a:ext cx="73152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770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责任门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401568"/>
            <a:ext cx="1938528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50" b="0">
                <a:solidFill>
                  <a:srgbClr val="173042"/>
                </a:solidFill>
                <a:latin typeface="Microsoft YaHei"/>
              </a:rPr>
              <a:t>通知、处置、生产数据
保留人工最终确认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257800"/>
            <a:ext cx="10241280" cy="786384"/>
          </a:xfrm>
          <a:prstGeom prst="roundRect">
            <a:avLst>
              <a:gd name="adj" fmla="val 8000"/>
            </a:avLst>
          </a:prstGeom>
          <a:solidFill>
            <a:srgbClr val="18354A"/>
          </a:solidFill>
          <a:ln w="12700">
            <a:solidFill>
              <a:srgbClr val="18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5394960"/>
            <a:ext cx="9646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系统当前不做：自由 SQL｜生产写库｜自动通知｜长期后台调度｜自动运营处置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07｜真实验证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当前代码已形成可复跑质量基线，但不把工程验证冒充业务验收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146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64208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1E8E69"/>
                </a:solidFill>
                <a:latin typeface="Microsoft YaHei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214884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Python 自动测试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81328"/>
            <a:ext cx="25146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664208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087EA4"/>
                </a:solidFill>
                <a:latin typeface="Microsoft YaHei"/>
              </a:rPr>
              <a:t>100/100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395728"/>
            <a:ext cx="214884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智能体 Gold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481328"/>
            <a:ext cx="25146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664208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00A6C8"/>
                </a:solidFill>
                <a:latin typeface="Microsoft YaHe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95728"/>
            <a:ext cx="214884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Web 浏览器 E2E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3" y="1481328"/>
            <a:ext cx="25146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3" y="1664208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3" y="2395728"/>
            <a:ext cx="214884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50" b="1">
                <a:solidFill>
                  <a:srgbClr val="173042"/>
                </a:solidFill>
                <a:latin typeface="Microsoft YaHei"/>
              </a:rPr>
              <a:t>Ruff / Biome 新增错误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58368" y="3383280"/>
          <a:ext cx="4069080" cy="2029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10912" y="3383280"/>
          <a:ext cx="653796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/>
                <a:gridCol w="3268980"/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工程验证已证明</a:t>
                      </a:r>
                    </a:p>
                  </a:txBody>
                  <a:tcPr anchor="ctr">
                    <a:solidFill>
                      <a:srgbClr val="183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生产验收尚未证明</a:t>
                      </a:r>
                    </a:p>
                  </a:txBody>
                  <a:tcPr anchor="ctr">
                    <a:solidFill>
                      <a:srgbClr val="1835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3042"/>
                          </a:solidFill>
                          <a:latin typeface="Microsoft YaHei"/>
                        </a:rPr>
                        <a:t>契约、边界、工具组合、证据核验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3042"/>
                          </a:solidFill>
                          <a:latin typeface="Microsoft YaHei"/>
                        </a:rPr>
                        <a:t>真实预测准确率、正式 SOP、运营责任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3042"/>
                          </a:solidFill>
                          <a:latin typeface="Microsoft YaHei"/>
                        </a:rPr>
                        <a:t>前后端构建与主要交互路径可复跑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3042"/>
                          </a:solidFill>
                          <a:latin typeface="Microsoft YaHei"/>
                        </a:rPr>
                        <a:t>权威数据权限、并发性能、生产模型端点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46120" y="5760720"/>
            <a:ext cx="56692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0">
                <a:solidFill>
                  <a:srgbClr val="607785"/>
                </a:solidFill>
                <a:latin typeface="Microsoft YaHei"/>
              </a:rPr>
              <a:t>验证时间：2026-07-21｜结果来自当前本地工作树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08｜合作开发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稳定契约让甲方数据、算法与界面可以分工接入，而不重写全系统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2487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44752"/>
            <a:ext cx="2487168" cy="621792"/>
          </a:xfrm>
          <a:prstGeom prst="rect">
            <a:avLst/>
          </a:prstGeom>
          <a:solidFill>
            <a:srgbClr val="087EA4"/>
          </a:solidFill>
          <a:ln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36192"/>
            <a:ext cx="2157984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甲方业务与数据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514600"/>
            <a:ext cx="1847088" cy="2148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指标口径
权威数据源
权限与 SOP
验收 Gold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7" y="4983480"/>
            <a:ext cx="1719072" cy="347472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4983480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087EA4"/>
                </a:solidFill>
                <a:latin typeface="Microsoft YaHei"/>
              </a:rPr>
              <a:t>明确 owner / verifier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444752"/>
            <a:ext cx="2487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444752"/>
            <a:ext cx="2487168" cy="6217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536192"/>
            <a:ext cx="2157984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算法与分析团队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514600"/>
            <a:ext cx="1847088" cy="2148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纯分析函数
输入输出契约
回测与误差
ToolRegistry 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7056" y="4983480"/>
            <a:ext cx="1719072" cy="347472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4983480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D97706"/>
                </a:solidFill>
                <a:latin typeface="Microsoft YaHei"/>
              </a:rPr>
              <a:t>明确 owner / verifier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444752"/>
            <a:ext cx="2487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444752"/>
            <a:ext cx="2487168" cy="621792"/>
          </a:xfrm>
          <a:prstGeom prst="rect">
            <a:avLst/>
          </a:prstGeom>
          <a:solidFill>
            <a:srgbClr val="00A6C8"/>
          </a:solidFill>
          <a:ln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536192"/>
            <a:ext cx="2157984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平台开发团队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514600"/>
            <a:ext cx="1847088" cy="2148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FastAPI / OpenAPI
Web / 微信
审计与部署
CI / 安全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9984" y="4983480"/>
            <a:ext cx="1719072" cy="347472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4983480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00A6C8"/>
                </a:solidFill>
                <a:latin typeface="Microsoft YaHei"/>
              </a:rPr>
              <a:t>明确 owner / verifier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3" y="1444752"/>
            <a:ext cx="2487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3" y="1444752"/>
            <a:ext cx="2487168" cy="621792"/>
          </a:xfrm>
          <a:prstGeom prst="rect">
            <a:avLst/>
          </a:prstGeom>
          <a:solidFill>
            <a:srgbClr val="1E8E69"/>
          </a:solidFill>
          <a:ln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5" y="1536192"/>
            <a:ext cx="2157984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联合治理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3" y="2514600"/>
            <a:ext cx="1847088" cy="2148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73042"/>
                </a:solidFill>
                <a:latin typeface="Microsoft YaHei"/>
              </a:rPr>
              <a:t>EvidencePacket
Verifier
人工闸门
生产准入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1" y="4983480"/>
            <a:ext cx="1719072" cy="347472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EA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4983480"/>
            <a:ext cx="171907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1E8E69"/>
                </a:solidFill>
                <a:latin typeface="Microsoft YaHei"/>
              </a:rPr>
              <a:t>明确 owner / verifier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870448"/>
            <a:ext cx="90982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354A"/>
                </a:solidFill>
                <a:latin typeface="Microsoft YaHei"/>
              </a:rPr>
              <a:t>推荐第一步：共同确认指标字典、10–20 条真实脱敏 Gold Cases 和生产权限边界。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本地受治理原型｜合成数据与生产验收分开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00A6C8"/>
                </a:solidFill>
                <a:latin typeface="Microsoft YaHei"/>
              </a:rPr>
              <a:t>09｜下一步决策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18354A"/>
                </a:solidFill>
                <a:latin typeface="Microsoft YaHei"/>
              </a:rPr>
              <a:t>建议以“小范围只读试点”推进，用真实证据决定是否扩大模型与数据权限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778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164592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200" b="1">
                <a:solidFill>
                  <a:srgbClr val="087EA4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2542032" cy="416052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905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1288" y="16459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087EA4"/>
          </a:solidFill>
          <a:ln w="12700">
            <a:solidFill>
              <a:srgbClr val="087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645920"/>
            <a:ext cx="1417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阶段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40280"/>
            <a:ext cx="20299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联合定义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44368"/>
            <a:ext cx="1883664" cy="16642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173042"/>
                </a:solidFill>
                <a:latin typeface="Microsoft YaHei"/>
              </a:rPr>
              <a:t>指标字典
数据责任人
Gold Cases
准入/退出条件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79" y="3474720"/>
            <a:ext cx="219457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65576" y="1389888"/>
            <a:ext cx="2542032" cy="416052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905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32504" y="16459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504" y="1645920"/>
            <a:ext cx="1417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阶段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240280"/>
            <a:ext cx="20299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只读试点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44368"/>
            <a:ext cx="1883664" cy="16642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173042"/>
                </a:solidFill>
                <a:latin typeface="Microsoft YaHei"/>
              </a:rPr>
              <a:t>脱敏权威数据
最小 RBAC
性能与审计
人工采纳记录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5896" y="3474720"/>
            <a:ext cx="219456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36792" y="1389888"/>
            <a:ext cx="2542032" cy="416052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03720" y="16459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645920"/>
            <a:ext cx="1417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阶段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240280"/>
            <a:ext cx="20299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评估净增益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2944368"/>
            <a:ext cx="1883664" cy="16642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173042"/>
                </a:solidFill>
                <a:latin typeface="Microsoft YaHei"/>
              </a:rPr>
              <a:t>确定性基线对照
错误归因
预测准确率
业务可用性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97112" y="3474720"/>
            <a:ext cx="219456" cy="0"/>
          </a:xfrm>
          <a:prstGeom prst="line">
            <a:avLst/>
          </a:prstGeom>
          <a:ln w="3175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08008" y="1389888"/>
            <a:ext cx="2542032" cy="4160520"/>
          </a:xfrm>
          <a:prstGeom prst="roundRect">
            <a:avLst>
              <a:gd name="adj" fmla="val 8000"/>
            </a:avLst>
          </a:prstGeom>
          <a:solidFill>
            <a:srgbClr val="F5F9FB"/>
          </a:solidFill>
          <a:ln w="1905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74936" y="16459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E8E69"/>
          </a:solidFill>
          <a:ln w="12700">
            <a:solidFill>
              <a:srgbClr val="1E8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645920"/>
            <a:ext cx="1417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阶段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240280"/>
            <a:ext cx="20299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8354A"/>
                </a:solidFill>
                <a:latin typeface="Microsoft YaHei"/>
              </a:rPr>
              <a:t>受控扩展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944368"/>
            <a:ext cx="1883664" cy="16642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173042"/>
                </a:solidFill>
                <a:latin typeface="Microsoft YaHei"/>
              </a:rPr>
              <a:t>正式 SOP
通知/调度审批
灾备与回滚
逐项开放权限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742432"/>
            <a:ext cx="10149840" cy="493776"/>
          </a:xfrm>
          <a:prstGeom prst="roundRect">
            <a:avLst>
              <a:gd name="adj" fmla="val 8000"/>
            </a:avLst>
          </a:prstGeom>
          <a:solidFill>
            <a:srgbClr val="18354A"/>
          </a:solidFill>
          <a:ln w="12700">
            <a:solidFill>
              <a:srgbClr val="18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806440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本次希望达成：确认试点场景、数据责任人、Gold Cases 与生产准入负责人。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850" b="0">
                <a:solidFill>
                  <a:srgbClr val="607785"/>
                </a:solidFill>
                <a:latin typeface="Microsoft YaHei"/>
              </a:rPr>
              <a:t>决策建议｜先只读、先小样、先验证，再扩大权限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519672"/>
            <a:ext cx="2880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850" b="0">
                <a:solidFill>
                  <a:srgbClr val="607785"/>
                </a:solidFill>
                <a:latin typeface="Microsoft YaHei"/>
              </a:rPr>
              <a:t>Metro Passenger Flow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